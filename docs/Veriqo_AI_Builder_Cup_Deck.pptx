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radhikaaudi/Veriqo" TargetMode="External"/><Relationship Id="rId4" Type="http://schemas.openxmlformats.org/officeDocument/2006/relationships/hyperlink" Target="https://youtu.be/zZbVIwDWArE" TargetMode="External"/><Relationship Id="rId5" Type="http://schemas.openxmlformats.org/officeDocument/2006/relationships/hyperlink" Target="https://veriqo-api-920194228751.us-central1.run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tle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242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86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>
                <a:solidFill>
                  <a:srgbClr val="2A282A"/>
                </a:solidFill>
                <a:latin typeface="Arial"/>
              </a:rPr>
              <a:t>Veriqo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63600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734B5E"/>
                </a:solidFill>
                <a:latin typeface="Arial"/>
              </a:rPr>
              <a:t>Know what to check before you buy.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257800"/>
            <a:ext cx="51206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</a:pPr>
            <a:r>
              <a:rPr b="1" sz="1500">
                <a:solidFill>
                  <a:srgbClr val="5F6266"/>
                </a:solidFill>
                <a:latin typeface="Arial"/>
              </a:rPr>
              <a:t>Team name:  </a:t>
            </a:r>
            <a:r>
              <a:rPr sz="1500">
                <a:solidFill>
                  <a:srgbClr val="2A282A"/>
                </a:solidFill>
                <a:latin typeface="Arial"/>
              </a:rPr>
              <a:t>Obscura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5F6266"/>
                </a:solidFill>
                <a:latin typeface="Arial"/>
              </a:rPr>
              <a:t>Team leader:  </a:t>
            </a:r>
            <a:r>
              <a:rPr sz="1500">
                <a:solidFill>
                  <a:srgbClr val="2A282A"/>
                </a:solidFill>
                <a:latin typeface="Arial"/>
              </a:rPr>
              <a:t>Radhika Audichya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5F6266"/>
                </a:solidFill>
                <a:latin typeface="Arial"/>
              </a:rPr>
              <a:t>Team member:  </a:t>
            </a:r>
            <a:r>
              <a:rPr sz="1500">
                <a:solidFill>
                  <a:srgbClr val="2A282A"/>
                </a:solidFill>
                <a:latin typeface="Arial"/>
              </a:rPr>
              <a:t>Somya Kedia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212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5F6266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57784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2A282A"/>
                </a:solidFill>
                <a:latin typeface="Arial"/>
              </a:rPr>
              <a:t>Used-car buyers can't quickly tell what a car's photos actually show, what its registration record says, or what still needs checking — so they overpay or buy hidden problems. Veriqo gives a fast, evidence-based pre-purchase report that is honest about what it could not verify.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A282A"/>
                </a:solidFill>
                <a:latin typeface="Arial"/>
              </a:rPr>
              <a:t>Veriqo turns a used-car buyer's photos, the registration number and the seller's listing into one evidence-tagged report — measured median 9.8 seconds from upload to report on the live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1155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Gemini 2.5 Flash reads every photo: </a:t>
            </a:r>
            <a:r>
              <a:rPr sz="1500">
                <a:solidFill>
                  <a:srgbClr val="2A282A"/>
                </a:solidFill>
                <a:latin typeface="Arial"/>
              </a:rPr>
              <a:t>visible damage, rust, tyre wear and interior damage — each finding linked to the photo it came from.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A registration lookup adds record facts </a:t>
            </a:r>
            <a:r>
              <a:rPr sz="1500">
                <a:solidFill>
                  <a:srgbClr val="2A282A"/>
                </a:solidFill>
                <a:latin typeface="Arial"/>
              </a:rPr>
              <a:t>(insurance, loan, challans, blacklist). In this prototype it is SIMULATED with synthetic test plates; any other plate is shown as “not verified”.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Deterministic rules </a:t>
            </a:r>
            <a:r>
              <a:rPr sz="1500">
                <a:solidFill>
                  <a:srgbClr val="2A282A"/>
                </a:solidFill>
                <a:latin typeface="Arial"/>
              </a:rPr>
              <a:t>build a transparent score, flag a listing that doesn't match the record, and flag missing photo angles.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Every finding is labelled </a:t>
            </a:r>
            <a:r>
              <a:rPr sz="1500">
                <a:solidFill>
                  <a:srgbClr val="2A282A"/>
                </a:solidFill>
                <a:latin typeface="Arial"/>
              </a:rPr>
              <a:t>Observed · Record · Inferred · Not checked — and every report ends with a prioritised “what to check before paying” 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94960"/>
            <a:ext cx="11155680" cy="731520"/>
          </a:xfrm>
          <a:prstGeom prst="roundRect">
            <a:avLst/>
          </a:prstGeom>
          <a:solidFill>
            <a:srgbClr val="FDF3E4"/>
          </a:solidFill>
          <a:ln w="15875">
            <a:solidFill>
              <a:srgbClr val="A97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1250">
                <a:solidFill>
                  <a:srgbClr val="2A282A"/>
                </a:solidFill>
                <a:latin typeface="Arial"/>
              </a:rPr>
              <a:t>Veriqo is a red-flag triage. It never certifies a car as safe — accident history and hidden mechanical condition are always listed as Not checked, so a clean-looking car never gets an “all clear”.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b="1" sz="1600">
                <a:solidFill>
                  <a:srgbClr val="2A282A"/>
                </a:solidFill>
                <a:latin typeface="Arial"/>
              </a:rPr>
              <a:t>•  How different is it?  </a:t>
            </a:r>
            <a:r>
              <a:rPr sz="1600">
                <a:solidFill>
                  <a:srgbClr val="2A282A"/>
                </a:solidFill>
                <a:latin typeface="Arial"/>
              </a:rPr>
              <a:t>Marketplaces inspect only the cars they sell; independent inspections are paid, physical and take a day. Veriqo is an instant, self-serve first check for any car — including a private listing.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b="1" sz="1600">
                <a:solidFill>
                  <a:srgbClr val="2A282A"/>
                </a:solidFill>
                <a:latin typeface="Arial"/>
              </a:rPr>
              <a:t>•  How does it solve the problem?  </a:t>
            </a:r>
            <a:r>
              <a:rPr sz="1600">
                <a:solidFill>
                  <a:srgbClr val="2A282A"/>
                </a:solidFill>
                <a:latin typeface="Arial"/>
              </a:rPr>
              <a:t>Before any money or travel, the buyer sees what the photos show, what the record says, what doesn't match, and exactly what to inspect.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b="1" sz="1600">
                <a:solidFill>
                  <a:srgbClr val="2A282A"/>
                </a:solidFill>
                <a:latin typeface="Arial"/>
              </a:rPr>
              <a:t>•  USP — evidence you can trace.  </a:t>
            </a:r>
            <a:r>
              <a:rPr sz="1600">
                <a:solidFill>
                  <a:srgbClr val="2A282A"/>
                </a:solidFill>
                <a:latin typeface="Arial"/>
              </a:rPr>
              <a:t>Every finding says where it came from and what it's based on; the score is the sum of published rules; anything simulated or unverified is labelled as such.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46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5F6266"/>
                </a:solidFill>
                <a:latin typeface="Arial"/>
              </a:rPr>
              <a:t>The four provenance labels used in every report: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57800"/>
            <a:ext cx="1828800" cy="292608"/>
          </a:xfrm>
          <a:prstGeom prst="roundRect">
            <a:avLst/>
          </a:prstGeom>
          <a:solidFill>
            <a:srgbClr val="73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Observed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5257800"/>
            <a:ext cx="1828800" cy="292608"/>
          </a:xfrm>
          <a:prstGeom prst="roundRect">
            <a:avLst/>
          </a:prstGeom>
          <a:solidFill>
            <a:srgbClr val="3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5257800"/>
            <a:ext cx="1828800" cy="292608"/>
          </a:xfrm>
          <a:prstGeom prst="roundRect">
            <a:avLst/>
          </a:prstGeom>
          <a:solidFill>
            <a:srgbClr val="4A4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Inferred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5257800"/>
            <a:ext cx="1828800" cy="292608"/>
          </a:xfrm>
          <a:prstGeom prst="roundRect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 checked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Photo analysis with evidence. </a:t>
            </a:r>
            <a:r>
              <a:rPr sz="1400">
                <a:solidFill>
                  <a:srgbClr val="2A282A"/>
                </a:solidFill>
                <a:latin typeface="Arial"/>
              </a:rPr>
              <a:t>Each finding shows the photo it came from, with Gemini's confidence.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Registration check. </a:t>
            </a:r>
            <a:r>
              <a:rPr sz="1400">
                <a:solidFill>
                  <a:srgbClr val="2A282A"/>
                </a:solidFill>
                <a:latin typeface="Arial"/>
              </a:rPr>
              <a:t>Insurance, loan, challans, blacklist — simulated in this prototype and labelled so.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Listing vs record check. </a:t>
            </a:r>
            <a:r>
              <a:rPr sz="1400">
                <a:solidFill>
                  <a:srgbClr val="2A282A"/>
                </a:solidFill>
                <a:latin typeface="Arial"/>
              </a:rPr>
              <a:t>Flags when the seller's make/model differs from the record.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Missing-angle detection. </a:t>
            </a:r>
            <a:r>
              <a:rPr sz="1400">
                <a:solidFill>
                  <a:srgbClr val="2A282A"/>
                </a:solidFill>
                <a:latin typeface="Arial"/>
              </a:rPr>
              <a:t>Says which views (rear, sides, tyres, interior) were never shown.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Transparent score. </a:t>
            </a:r>
            <a:r>
              <a:rPr sz="1400">
                <a:solidFill>
                  <a:srgbClr val="2A282A"/>
                </a:solidFill>
                <a:latin typeface="Arial"/>
              </a:rPr>
              <a:t>Sum of published rules; photos alone can't max it out (capped at 60).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Prioritised checklist. </a:t>
            </a:r>
            <a:r>
              <a:rPr sz="1400">
                <a:solidFill>
                  <a:srgbClr val="2A282A"/>
                </a:solidFill>
                <a:latin typeface="Arial"/>
              </a:rPr>
              <a:t>“What to check before paying”, highest-impact first.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Saved, shareable report. </a:t>
            </a:r>
            <a:r>
              <a:rPr sz="1400">
                <a:solidFill>
                  <a:srgbClr val="2A282A"/>
                </a:solidFill>
                <a:latin typeface="Arial"/>
              </a:rPr>
              <a:t>Stored in Firestore; the link reopens it after a refresh.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Safe failure handling. </a:t>
            </a:r>
            <a:r>
              <a:rPr sz="1400">
                <a:solidFill>
                  <a:srgbClr val="2A282A"/>
                </a:solidFill>
                <a:latin typeface="Arial"/>
              </a:rPr>
              <a:t>Rejects non-images and &gt;12 MB files; clear messages if the model or network fails.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86400"/>
            <a:ext cx="11155680" cy="640080"/>
          </a:xfrm>
          <a:prstGeom prst="roundRect">
            <a:avLst/>
          </a:prstGeom>
          <a:solidFill>
            <a:srgbClr val="FDF3E4"/>
          </a:solidFill>
          <a:ln w="15875">
            <a:solidFill>
              <a:srgbClr val="A97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1250">
                <a:solidFill>
                  <a:srgbClr val="2A282A"/>
                </a:solidFill>
                <a:latin typeface="Arial"/>
              </a:rPr>
              <a:t>Honesty built in: simulated registration data is labelled “SIMULATED — NOT GOVERNMENT VERIFIED”; an unknown plate is shown as “not verified” — never filled with invented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Process flow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2F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1. Buyer input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Photos + registration no. + listing make/model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03704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95728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7477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2. Validate &amp; store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Real-image check · private Cloud Storage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96512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88536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734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3. Gemini vision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Structured findings per photo (Observed)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9320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81344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3F6E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4. Registration lookup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Record facts — simulated in this prototype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2128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4A4C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5. Rules engine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Cross-checks · coverage · score (deterministic)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4936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66960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2A2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6. Report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4 labels + checklist → Firestore + 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5F6266"/>
                </a:solidFill>
                <a:latin typeface="Arial"/>
              </a:rPr>
              <a:t>One buyer action in, one traceable report out. If Gemini fails, nothing is saved and the buyer sees a clear retry message.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Wireframes / Mock diagrams of the proposed solution</a:t>
            </a:r>
          </a:p>
        </p:txBody>
      </p:sp>
      <p:pic>
        <p:nvPicPr>
          <p:cNvPr id="5" name="Picture 4" descr="02-upload-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5440680" cy="3400425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02920" y="5165217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Upload: plate, listing, numbered photos</a:t>
            </a:r>
          </a:p>
        </p:txBody>
      </p:sp>
      <p:pic>
        <p:nvPicPr>
          <p:cNvPr id="7" name="Picture 6" descr="05-fin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91640"/>
            <a:ext cx="5440680" cy="3400425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5165217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Report: findings labelled by source, with photo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5F6266"/>
                </a:solidFill>
                <a:latin typeface="Arial"/>
              </a:rPr>
              <a:t>Actual screens captured from the deployed app (veriqo-api-920194228751.us-central1.run.app) — not mockups.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Architecture diagram of the proposed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600200"/>
            <a:ext cx="5486400" cy="64008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Buyer's browser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React web app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43600" y="2286000"/>
            <a:ext cx="274320" cy="320040"/>
          </a:xfrm>
          <a:prstGeom prst="down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2651760"/>
            <a:ext cx="5486400" cy="777240"/>
          </a:xfrm>
          <a:prstGeom prst="roundRect">
            <a:avLst/>
          </a:prstGeom>
          <a:solidFill>
            <a:srgbClr val="EEF5F0"/>
          </a:solidFill>
          <a:ln w="15875">
            <a:solidFill>
              <a:srgbClr val="2F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Cloud Run · veriqo-api (us-central1)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Serves the web app + FastAPI · image validation · deterministic rules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3474720"/>
            <a:ext cx="274320" cy="411480"/>
          </a:xfrm>
          <a:prstGeom prst="down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3977639"/>
            <a:ext cx="2651760" cy="100584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734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Gemini 2.5 Flash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Vertex AI · structured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977639"/>
            <a:ext cx="2651760" cy="1005840"/>
          </a:xfrm>
          <a:prstGeom prst="roundRect">
            <a:avLst/>
          </a:prstGeom>
          <a:solidFill>
            <a:srgbClr val="FDF3E4"/>
          </a:solidFill>
          <a:ln w="15875">
            <a:solidFill>
              <a:srgbClr val="A97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Registration lookup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SIMULATED — synthetic test fixtures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39"/>
            <a:ext cx="2651760" cy="100584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2F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Cloud Firestore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Reports + append-only audit trail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3977639"/>
            <a:ext cx="2651760" cy="100584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3F6E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Cloud Storage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Private bucket · 30-day expiry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578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5F6266"/>
                </a:solidFill>
                <a:latin typeface="Arial"/>
              </a:rPr>
              <a:t>Gemini perceives; Cloud Run decides with fixed rules; Firestore keeps the auditable record. Not used in this prototype: Firebase Hosting and Firebase Authentication (Cloud Run serves the app; there is no sign-in).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Technologies to be used in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Gemini 2.5 Flash on Vertex AI — </a:t>
            </a:r>
            <a:r>
              <a:rPr sz="1450">
                <a:solidFill>
                  <a:srgbClr val="2A282A"/>
                </a:solidFill>
                <a:latin typeface="Arial"/>
              </a:rPr>
              <a:t>multimodal photo analysis with a typed JSON response schema (temperature 0).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Cloud Run — </a:t>
            </a:r>
            <a:r>
              <a:rPr sz="1450">
                <a:solidFill>
                  <a:srgbClr val="2A282A"/>
                </a:solidFill>
                <a:latin typeface="Arial"/>
              </a:rPr>
              <a:t>one service serving the React app and the FastAPI backend; 1 warm instance.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Cloud Firestore (Firebase) — </a:t>
            </a:r>
            <a:r>
              <a:rPr sz="1450">
                <a:solidFill>
                  <a:srgbClr val="2A282A"/>
                </a:solidFill>
                <a:latin typeface="Arial"/>
              </a:rPr>
              <a:t>saved reports and an append-only audit trail.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Cloud Storage — </a:t>
            </a:r>
            <a:r>
              <a:rPr sz="1450">
                <a:solidFill>
                  <a:srgbClr val="2A282A"/>
                </a:solidFill>
                <a:latin typeface="Arial"/>
              </a:rPr>
              <a:t>uploaded photos in a private bucket, deleted automatically after 30 days.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Cloud Build + Artifact Registry — </a:t>
            </a:r>
            <a:r>
              <a:rPr sz="1450">
                <a:solidFill>
                  <a:srgbClr val="2A282A"/>
                </a:solidFill>
                <a:latin typeface="Arial"/>
              </a:rPr>
              <a:t>builds and stores the container on every deploy.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React + Vite + TypeScript · FastAPI + Pydantic (Python) — </a:t>
            </a:r>
            <a:r>
              <a:rPr sz="1450">
                <a:solidFill>
                  <a:srgbClr val="2A282A"/>
                </a:solidFill>
                <a:latin typeface="Arial"/>
              </a:rPr>
              <a:t>app and API.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pytest + Playwright — </a:t>
            </a:r>
            <a:r>
              <a:rPr sz="1450">
                <a:solidFill>
                  <a:srgbClr val="2A282A"/>
                </a:solidFill>
                <a:latin typeface="Arial"/>
              </a:rPr>
              <a:t>API tests and browser tests run against the live deployment.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Registration data — </a:t>
            </a:r>
            <a:r>
              <a:rPr sz="1450">
                <a:solidFill>
                  <a:srgbClr val="2A282A"/>
                </a:solidFill>
                <a:latin typeface="Arial"/>
              </a:rPr>
              <a:t>synthetic fixtures today; built to plug in a licensed provider (Surepass / Signzy class).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Estimated implementation cost (optional)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5F6266"/>
                </a:solidFill>
                <a:latin typeface="Arial"/>
              </a:rPr>
              <a:t>Indicative, prototype scale. These are estimates, not measured bills.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2860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846320"/>
                <a:gridCol w="30175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Driver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Indicative cost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≈5 photos per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Fractions of ₹ per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1 always-warm instance (avoids cold starts)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Small fixed monthly cost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Firestore + Cloud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Prototype volumes; photos auto-deleted at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Within free tier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Registration provider (when live)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Per-lookup fee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Likely the largest per-report cost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5" name="Picture 4" descr="04-report-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3611880" cy="3611880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02920" y="523951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Score, breakdown, simulated label</a:t>
            </a:r>
          </a:p>
        </p:txBody>
      </p:sp>
      <p:pic>
        <p:nvPicPr>
          <p:cNvPr id="7" name="Picture 6" descr="06-check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554480"/>
            <a:ext cx="3611880" cy="3611880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88536" y="523951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Prioritised buyer checklist</a:t>
            </a:r>
          </a:p>
        </p:txBody>
      </p:sp>
      <p:pic>
        <p:nvPicPr>
          <p:cNvPr id="9" name="Picture 8" descr="07-rc-not-verifi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554480"/>
            <a:ext cx="3611880" cy="3611880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074152" y="523951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Unknown plate → not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F6266"/>
                </a:solidFill>
                <a:latin typeface="Arial"/>
              </a:rPr>
              <a:t>Captured from the live deployment with real Gemini output. Test photos: openly licensed Wikimedia Commons images (credits in the repo). Registration data is synthetic and labelled as simulated.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Prototype Performance report/Benchmarking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4592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34747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we measured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API tests (pytest, 21 cases incl. invalid files, model failures, persistence)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21 / 21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Scoring-rule evaluation (11 labelled cases)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67 / 67 checks pass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Browser tests on the live deployment (15 scenarios)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15 / 15 pass  (first run: 14 / 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Upload → report time, 13 live runs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median 9.8 s · range 6.8–17.2 s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7947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A282A"/>
                </a:solidFill>
                <a:latin typeface="Arial"/>
              </a:rPr>
              <a:t>Model review (checked by hand, before → after prompt and rule fixes)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0624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b="1" sz="1300">
                <a:solidFill>
                  <a:srgbClr val="2A282A"/>
                </a:solidFill>
                <a:latin typeface="Arial"/>
              </a:rPr>
              <a:t>•  Fixed: </a:t>
            </a:r>
            <a:r>
              <a:rPr sz="1300">
                <a:solidFill>
                  <a:srgbClr val="2A282A"/>
                </a:solidFill>
                <a:latin typeface="Arial"/>
              </a:rPr>
              <a:t>one key scratch scored 100/100 → now 26 (one moderate item); sharp close-ups were marked low-confidence → now 0.7–1.0; a blurry photo claimed views → now claims none; repeat runs disagreed → now identical.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b="1" sz="1300">
                <a:solidFill>
                  <a:srgbClr val="2A282A"/>
                </a:solidFill>
                <a:latin typeface="Arial"/>
              </a:rPr>
              <a:t>•  Still open: </a:t>
            </a:r>
            <a:r>
              <a:rPr sz="1300">
                <a:solidFill>
                  <a:srgbClr val="2A282A"/>
                </a:solidFill>
                <a:latin typeface="Arial"/>
              </a:rPr>
              <a:t>headlight severity varies between photo sets; a dent photo still yields 6 items. No precision/recall is claimed — 11 photos are not a labelled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F6266"/>
                </a:solidFill>
                <a:latin typeface="Arial"/>
              </a:rPr>
              <a:t>Sources: docs/05-TEST-RESULTS.md · docs/05b-MODEL-REVIEW.md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Additional Details/Future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Live registration data. </a:t>
            </a:r>
            <a:r>
              <a:rPr sz="1500">
                <a:solidFill>
                  <a:srgbClr val="2A282A"/>
                </a:solidFill>
                <a:latin typeface="Arial"/>
              </a:rPr>
              <a:t>Connect a licensed provider so records become “Record verified”, not simulated.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A real accuracy benchmark. </a:t>
            </a:r>
            <a:r>
              <a:rPr sz="1500">
                <a:solidFill>
                  <a:srgbClr val="2A282A"/>
                </a:solidFill>
                <a:latin typeface="Arial"/>
              </a:rPr>
              <a:t>~100 labelled photo sets checked by mechanics → per-defect precision/recall.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Accounts. </a:t>
            </a:r>
            <a:r>
              <a:rPr sz="1500">
                <a:solidFill>
                  <a:srgbClr val="2A282A"/>
                </a:solidFill>
                <a:latin typeface="Arial"/>
              </a:rPr>
              <a:t>Firebase Authentication so buyers can keep and share their reports.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History signals. </a:t>
            </a:r>
            <a:r>
              <a:rPr sz="1500">
                <a:solidFill>
                  <a:srgbClr val="2A282A"/>
                </a:solidFill>
                <a:latin typeface="Arial"/>
              </a:rPr>
              <a:t>Partner data for accident, service and odometer history.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Local languages. </a:t>
            </a:r>
            <a:r>
              <a:rPr sz="1500">
                <a:solidFill>
                  <a:srgbClr val="2A282A"/>
                </a:solidFill>
                <a:latin typeface="Arial"/>
              </a:rPr>
              <a:t>Reports in Hindi and regional languages with Gemini.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Same engine, new listings. </a:t>
            </a:r>
            <a:r>
              <a:rPr sz="1500">
                <a:solidFill>
                  <a:srgbClr val="2A282A"/>
                </a:solidFill>
                <a:latin typeface="Arial"/>
              </a:rPr>
              <a:t>Verify rental-flat listings with the same evidence-tagged approach.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Provide links to your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2A282A"/>
                </a:solidFill>
                <a:latin typeface="Arial"/>
              </a:rPr>
              <a:t>●  GitHub Public Repository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1874520"/>
            <a:ext cx="6446520" cy="502920"/>
          </a:xfrm>
          <a:prstGeom prst="roundRect">
            <a:avLst/>
          </a:prstGeom>
          <a:solidFill>
            <a:srgbClr val="F6F3F2"/>
          </a:solidFill>
          <a:ln w="12700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0" y="19842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3F6EA3"/>
                </a:solidFill>
                <a:latin typeface="Arial"/>
                <a:hlinkClick r:id="rId3"/>
              </a:rPr>
              <a:t>https://github.com/radhikaaudi/Veriqo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2A282A"/>
                </a:solidFill>
                <a:latin typeface="Arial"/>
              </a:rPr>
              <a:t>●  Demo Video Link (3 Minutes)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2788920"/>
            <a:ext cx="6446520" cy="502920"/>
          </a:xfrm>
          <a:prstGeom prst="roundRect">
            <a:avLst/>
          </a:prstGeom>
          <a:solidFill>
            <a:srgbClr val="F6F3F2"/>
          </a:solidFill>
          <a:ln w="12700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8986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3F6EA3"/>
                </a:solidFill>
                <a:latin typeface="Arial"/>
                <a:hlinkClick r:id="rId4"/>
              </a:rPr>
              <a:t>https://youtu.be/zZbVIwDWArE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2A282A"/>
                </a:solidFill>
                <a:latin typeface="Arial"/>
              </a:rPr>
              <a:t>●  Final Product Link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3703320"/>
            <a:ext cx="6446520" cy="502920"/>
          </a:xfrm>
          <a:prstGeom prst="roundRect">
            <a:avLst/>
          </a:prstGeom>
          <a:solidFill>
            <a:srgbClr val="F6F3F2"/>
          </a:solidFill>
          <a:ln w="12700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8130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3F6EA3"/>
                </a:solidFill>
                <a:latin typeface="Arial"/>
                <a:hlinkClick r:id="rId5"/>
              </a:rPr>
              <a:t>https://veriqo-api-920194228751.us-central1.run.app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37760"/>
            <a:ext cx="11155680" cy="64008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1250">
                <a:solidFill>
                  <a:srgbClr val="2A282A"/>
                </a:solidFill>
                <a:latin typeface="Arial"/>
              </a:rPr>
              <a:t>The live app is kept warm (1 always-on Cloud Run instance) for the evaluation period.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ank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