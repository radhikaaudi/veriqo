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242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86200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71B22"/>
                </a:solidFill>
                <a:latin typeface="Arial"/>
              </a:rPr>
              <a:t>Veriqo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6360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B82F6"/>
                </a:solidFill>
                <a:latin typeface="Arial"/>
              </a:rPr>
              <a:t>Know what to check before you buy.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57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500">
                <a:solidFill>
                  <a:srgbClr val="55606E"/>
                </a:solidFill>
                <a:latin typeface="Arial"/>
              </a:rPr>
              <a:t>Team name:  </a:t>
            </a:r>
            <a:r>
              <a:rPr sz="1500">
                <a:solidFill>
                  <a:srgbClr val="171B22"/>
                </a:solidFill>
                <a:latin typeface="Arial"/>
              </a:rPr>
              <a:t>Obscura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5606E"/>
                </a:solidFill>
                <a:latin typeface="Arial"/>
              </a:rPr>
              <a:t>Team leader:  </a:t>
            </a:r>
            <a:r>
              <a:rPr sz="1500">
                <a:solidFill>
                  <a:srgbClr val="171B22"/>
                </a:solidFill>
                <a:latin typeface="Arial"/>
              </a:rPr>
              <a:t>Radhika Audichya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5606E"/>
                </a:solidFill>
                <a:latin typeface="Arial"/>
              </a:rPr>
              <a:t>Team member:  </a:t>
            </a:r>
            <a:r>
              <a:rPr sz="1500">
                <a:solidFill>
                  <a:srgbClr val="171B22"/>
                </a:solidFill>
                <a:latin typeface="Arial"/>
              </a:rPr>
              <a:t>Somya Kedia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212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55606E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5778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171B22"/>
                </a:solidFill>
                <a:latin typeface="Arial"/>
              </a:rPr>
              <a:t>Used-car buyers can't quickly tell a car's real condition or registration status before paying — so they overpay or get defrauded. Veriqo gives a fast, evidence-based pre-purchase check that shows exactly what to verify.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B22"/>
                </a:solidFill>
                <a:latin typeface="Arial"/>
              </a:rPr>
              <a:t>Veriqo turns a used-car buyer's photos + the registration number into one clear, evidence-tagged report in about a minute — before they pay or travel to see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11155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Gemini reads the photos </a:t>
            </a:r>
            <a:r>
              <a:rPr sz="1500">
                <a:solidFill>
                  <a:srgbClr val="171B22"/>
                </a:solidFill>
                <a:latin typeface="Arial"/>
              </a:rPr>
              <a:t>for visible issues (damage, rust, tyre wear, paint mismatch) with a confidence level.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A registration (RC) lookup </a:t>
            </a:r>
            <a:r>
              <a:rPr sz="1500">
                <a:solidFill>
                  <a:srgbClr val="171B22"/>
                </a:solidFill>
                <a:latin typeface="Arial"/>
              </a:rPr>
              <a:t>adds official facts: insurance validity, active loan, challans, blacklist status.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Deterministic rules combine both </a:t>
            </a:r>
            <a:r>
              <a:rPr sz="1500">
                <a:solidFill>
                  <a:srgbClr val="171B22"/>
                </a:solidFill>
                <a:latin typeface="Arial"/>
              </a:rPr>
              <a:t>into a transparent risk read and a list of what to get professionally inspected.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Every finding is labelled by source </a:t>
            </a:r>
            <a:r>
              <a:rPr sz="1500">
                <a:solidFill>
                  <a:srgbClr val="171B22"/>
                </a:solidFill>
                <a:latin typeface="Arial"/>
              </a:rPr>
              <a:t>— Observed, Record, Inferred, or Not checked — so nothing is a black 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57800"/>
            <a:ext cx="11155680" cy="77724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300">
                <a:solidFill>
                  <a:srgbClr val="171B22"/>
                </a:solidFill>
                <a:latin typeface="Arial"/>
              </a:rPr>
              <a:t>Veriqo is a red-flag triage — it tells you what to check. It never certifies a car as safe, and a photo is never treated as proof of a hidden mechanical fault.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b="1" sz="1600">
                <a:solidFill>
                  <a:srgbClr val="171B22"/>
                </a:solidFill>
                <a:latin typeface="Arial"/>
              </a:rPr>
              <a:t>•  How different is it?  </a:t>
            </a:r>
            <a:r>
              <a:rPr sz="1600">
                <a:solidFill>
                  <a:srgbClr val="171B22"/>
                </a:solidFill>
                <a:latin typeface="Arial"/>
              </a:rPr>
              <a:t>Cars24 / Spinny inspect only the cars they sell; independent inspections are paid, physical and next-day. No self-serve AI photo check exists for ANY car or a private listing.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b="1" sz="1600">
                <a:solidFill>
                  <a:srgbClr val="171B22"/>
                </a:solidFill>
                <a:latin typeface="Arial"/>
              </a:rPr>
              <a:t>•  How does it solve the problem?  </a:t>
            </a:r>
            <a:r>
              <a:rPr sz="1600">
                <a:solidFill>
                  <a:srgbClr val="171B22"/>
                </a:solidFill>
                <a:latin typeface="Arial"/>
              </a:rPr>
              <a:t>An instant first-pass BEFORE money or travel — it surfaces red flags and the exact questions to ask the seller, and flags what needs a mechanic.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b="1" sz="1600">
                <a:solidFill>
                  <a:srgbClr val="171B22"/>
                </a:solidFill>
                <a:latin typeface="Arial"/>
              </a:rPr>
              <a:t>•  USP — transparent provenance.  </a:t>
            </a:r>
            <a:r>
              <a:rPr sz="1600">
                <a:solidFill>
                  <a:srgbClr val="171B22"/>
                </a:solidFill>
                <a:latin typeface="Arial"/>
              </a:rPr>
              <a:t>Every finding is tagged Observed (photo) / Record (RC) / Inferred (rules) / Not checked, and the risk score is just the sum of stated rules — auditable, not a mystery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46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5606E"/>
                </a:solidFill>
                <a:latin typeface="Arial"/>
              </a:rPr>
              <a:t>Four provenance tags used across the product: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57800"/>
            <a:ext cx="1828800" cy="2743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5257800"/>
            <a:ext cx="1828800" cy="2743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5257800"/>
            <a:ext cx="1828800" cy="2743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5257800"/>
            <a:ext cx="1828800" cy="2743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Not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Photo condition analysis (Gemini). </a:t>
            </a:r>
            <a:r>
              <a:rPr sz="1400">
                <a:solidFill>
                  <a:srgbClr val="171B22"/>
                </a:solidFill>
                <a:latin typeface="Arial"/>
              </a:rPr>
              <a:t>Visible damage, rust, tyre wear, paint mismatch — each with a confidence level.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Registration (RC) verification. </a:t>
            </a:r>
            <a:r>
              <a:rPr sz="1400">
                <a:solidFill>
                  <a:srgbClr val="171B22"/>
                </a:solidFill>
                <a:latin typeface="Arial"/>
              </a:rPr>
              <a:t>Make/model, insurance validity, active loan/hypothecation, challans, blacklist.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Evidence-tagged findings. </a:t>
            </a:r>
            <a:r>
              <a:rPr sz="1400">
                <a:solidFill>
                  <a:srgbClr val="171B22"/>
                </a:solidFill>
                <a:latin typeface="Arial"/>
              </a:rPr>
              <a:t>Observed / Record / Inferred / Not checked — the line is never blurred.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Transparent risk breakdown. </a:t>
            </a:r>
            <a:r>
              <a:rPr sz="1400">
                <a:solidFill>
                  <a:srgbClr val="171B22"/>
                </a:solidFill>
                <a:latin typeface="Arial"/>
              </a:rPr>
              <a:t>Score = sum of published rules across visible condition, record and uncertainty.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“Get inspected” action list. </a:t>
            </a:r>
            <a:r>
              <a:rPr sz="1400">
                <a:solidFill>
                  <a:srgbClr val="171B22"/>
                </a:solidFill>
                <a:latin typeface="Arial"/>
              </a:rPr>
              <a:t>Clear next steps and questions to ask before paying.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Shareable report + audit trail. </a:t>
            </a:r>
            <a:r>
              <a:rPr sz="1400">
                <a:solidFill>
                  <a:srgbClr val="171B22"/>
                </a:solidFill>
                <a:latin typeface="Arial"/>
              </a:rPr>
              <a:t>Every report is saved with an append-only log of how it was produced.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86400"/>
            <a:ext cx="11155680" cy="6400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Honesty built in: when any source is mocked for the demo, the report shows a “SIMULATED DATA” banner and the RC record is labelled “not government-verified.”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Process flow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51760"/>
            <a:ext cx="2026310" cy="15544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1. Buyer input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Uploads car photos + enters the registration number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8374" y="3300984"/>
            <a:ext cx="237744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5262" y="2651760"/>
            <a:ext cx="2026310" cy="15544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2. Gemini vision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Extracts visible condition (Observed)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0716" y="3300984"/>
            <a:ext cx="237744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7604" y="2651760"/>
            <a:ext cx="2026310" cy="15544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3. RC lookup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Registration facts (Record) — Simulated in demo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3059" y="3300984"/>
            <a:ext cx="237744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49947" y="2651760"/>
            <a:ext cx="2026310" cy="15544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4. Rules engine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Cross-check + findings + risk score (deterministic)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5401" y="3300984"/>
            <a:ext cx="237744" cy="256032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32289" y="2651760"/>
            <a:ext cx="2026310" cy="155448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171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5. Report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Risk + tagged findings + inspect list → saved to Firestore + 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5606E"/>
                </a:solidFill>
                <a:latin typeface="Arial"/>
              </a:rPr>
              <a:t>One buyer action in, one transparent report out — each stage's output is traceable to its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Wireframes / Mock diagrams of the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828800"/>
            <a:ext cx="420624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71B22"/>
                </a:solidFill>
                <a:latin typeface="Arial"/>
              </a:rPr>
              <a:t>Verify a 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697480"/>
            <a:ext cx="3657600" cy="457200"/>
          </a:xfrm>
          <a:prstGeom prst="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79806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5606E"/>
                </a:solidFill>
                <a:latin typeface="Arial"/>
              </a:rPr>
              <a:t>Registration number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3657600" cy="12801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74904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5606E"/>
                </a:solidFill>
                <a:latin typeface="Arial"/>
              </a:rPr>
              <a:t>↑  Upload car photos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5606E"/>
                </a:solidFill>
                <a:latin typeface="Arial"/>
              </a:rPr>
              <a:t>(exterior, tyres, interior, odometer)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892040"/>
            <a:ext cx="3657600" cy="5029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0017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Verify 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828800"/>
            <a:ext cx="420624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057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71B22"/>
                </a:solidFill>
                <a:latin typeface="Arial"/>
              </a:rPr>
              <a:t>Report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560320"/>
            <a:ext cx="3657600" cy="731520"/>
          </a:xfrm>
          <a:prstGeom prst="roundRect">
            <a:avLst/>
          </a:prstGeom>
          <a:solidFill>
            <a:srgbClr val="FDECEA"/>
          </a:solidFill>
          <a:ln w="127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7432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B42318"/>
                </a:solidFill>
                <a:latin typeface="Arial"/>
              </a:rPr>
              <a:t>74  ·  HIGH 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474720"/>
            <a:ext cx="109728" cy="3657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35021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71B22"/>
                </a:solidFill>
                <a:latin typeface="Arial"/>
              </a:rPr>
              <a:t>👁 Observed  ·  dent, paint mismatch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977640"/>
            <a:ext cx="109728" cy="365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40050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71B22"/>
                </a:solidFill>
                <a:latin typeface="Arial"/>
              </a:rPr>
              <a:t>📋 Record  ·  insurance expired, active loan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4480560"/>
            <a:ext cx="109728" cy="36576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450799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71B22"/>
                </a:solidFill>
                <a:latin typeface="Arial"/>
              </a:rPr>
              <a:t>🔗 Inferred  ·  rule cross-checks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4983480"/>
            <a:ext cx="109728" cy="3657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501091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71B22"/>
                </a:solidFill>
                <a:latin typeface="Arial"/>
              </a:rPr>
              <a:t>❓ Not checked  ·  engine / underbody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064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5606E"/>
                </a:solidFill>
                <a:latin typeface="Arial"/>
              </a:rPr>
              <a:t>Live prototype screenshots go on the “Snapshots”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Architecture diagram of the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645920"/>
            <a:ext cx="5029200" cy="6858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300">
                <a:solidFill>
                  <a:srgbClr val="171B22"/>
                </a:solidFill>
                <a:latin typeface="Arial"/>
              </a:rPr>
              <a:t>Firebase Hosting</a:t>
            </a:r>
          </a:p>
          <a:p>
            <a:pPr algn="ctr">
              <a:lnSpc>
                <a:spcPct val="100000"/>
              </a:lnSpc>
            </a:pPr>
            <a:r>
              <a:rPr sz="1000">
                <a:solidFill>
                  <a:srgbClr val="171B22"/>
                </a:solidFill>
                <a:latin typeface="Arial"/>
              </a:rPr>
              <a:t>React web app (buyer)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2377440"/>
            <a:ext cx="274320" cy="32004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66160" y="2743200"/>
            <a:ext cx="5029200" cy="73152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300">
                <a:solidFill>
                  <a:srgbClr val="171B22"/>
                </a:solidFill>
                <a:latin typeface="Arial"/>
              </a:rPr>
              <a:t>Cloud Run  ·  FastAPI</a:t>
            </a:r>
          </a:p>
          <a:p>
            <a:pPr algn="ctr">
              <a:lnSpc>
                <a:spcPct val="100000"/>
              </a:lnSpc>
            </a:pPr>
            <a:r>
              <a:rPr sz="1000">
                <a:solidFill>
                  <a:srgbClr val="171B22"/>
                </a:solidFill>
                <a:latin typeface="Arial"/>
              </a:rPr>
              <a:t>Orchestration + deterministic rules (the decision layer)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5176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Gemini 2.5 Flash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Vertex AI — photo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023360"/>
            <a:ext cx="265176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VAHAN RC API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Authorized provider — Simulated in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023360"/>
            <a:ext cx="265176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Firestore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Cases + append-only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4023360"/>
            <a:ext cx="265176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200">
                <a:solidFill>
                  <a:srgbClr val="171B22"/>
                </a:solidFill>
                <a:latin typeface="Arial"/>
              </a:rPr>
              <a:t>Cloud Storage</a:t>
            </a:r>
          </a:p>
          <a:p>
            <a:pPr algn="ctr">
              <a:lnSpc>
                <a:spcPct val="100000"/>
              </a:lnSpc>
            </a:pPr>
            <a:r>
              <a:rPr sz="950">
                <a:solidFill>
                  <a:srgbClr val="171B22"/>
                </a:solidFill>
                <a:latin typeface="Arial"/>
              </a:rPr>
              <a:t>Uploaded photos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520440"/>
            <a:ext cx="274320" cy="45720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25780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5606E"/>
                </a:solidFill>
                <a:latin typeface="Arial"/>
              </a:rPr>
              <a:t>Gemini perceives; Cloud Run decides with deterministic rules; Firestore keeps the auditable record. Only one external dependency (RC) is simulated until the live key is connected.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Gemini 2.5 Flash (Vertex AI). </a:t>
            </a:r>
            <a:r>
              <a:rPr sz="1500">
                <a:solidFill>
                  <a:srgbClr val="171B22"/>
                </a:solidFill>
                <a:latin typeface="Arial"/>
              </a:rPr>
              <a:t>Multimodal photo understanding with structured JSON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Cloud Run. </a:t>
            </a:r>
            <a:r>
              <a:rPr sz="1500">
                <a:solidFill>
                  <a:srgbClr val="171B22"/>
                </a:solidFill>
                <a:latin typeface="Arial"/>
              </a:rPr>
              <a:t>FastAPI backend: orchestration + deterministic scoring, autoscaling, kept warm.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Cloud Firestore. </a:t>
            </a:r>
            <a:r>
              <a:rPr sz="1500">
                <a:solidFill>
                  <a:srgbClr val="171B22"/>
                </a:solidFill>
                <a:latin typeface="Arial"/>
              </a:rPr>
              <a:t>Verification cases + append-only audit trail; shareable reports.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Firebase Hosting + Auth. </a:t>
            </a:r>
            <a:r>
              <a:rPr sz="1500">
                <a:solidFill>
                  <a:srgbClr val="171B22"/>
                </a:solidFill>
                <a:latin typeface="Arial"/>
              </a:rPr>
              <a:t>Serves the web app; rewrites /api to Cloud Run; optional sign-in.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Cloud Storage. </a:t>
            </a:r>
            <a:r>
              <a:rPr sz="1500">
                <a:solidFill>
                  <a:srgbClr val="171B22"/>
                </a:solidFill>
                <a:latin typeface="Arial"/>
              </a:rPr>
              <a:t>Stores uploaded car photos (evidence).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Authorized RC / VAHAN provider API. </a:t>
            </a:r>
            <a:r>
              <a:rPr sz="1500">
                <a:solidFill>
                  <a:srgbClr val="171B22"/>
                </a:solidFill>
                <a:latin typeface="Arial"/>
              </a:rPr>
              <a:t>Registration facts (Surepass / Signzy class) — simulated until key is live.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React + Vite + TypeScript. </a:t>
            </a:r>
            <a:r>
              <a:rPr sz="1500">
                <a:solidFill>
                  <a:srgbClr val="171B22"/>
                </a:solidFill>
                <a:latin typeface="Arial"/>
              </a:rPr>
              <a:t>Fast, responsive buyer 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Estimated implementation cost (optional)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5606E"/>
                </a:solidFill>
                <a:latin typeface="Arial"/>
              </a:rPr>
              <a:t>Indicative, prototype-scale — built to stay within Google Cloud's free tiers; cost is dominated by the RC lookup.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8600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5720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Indicative cost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A few images per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Fraction of ₹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RC / VAHAN 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Per registration lookup (provider-priced)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≈ ₹ a few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Free tier; small cost if kept warm (min-instance)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≈ free – low ₹/month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Firestore / Storage /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Prototype volumes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71B22"/>
                          </a:solidFill>
                          <a:latin typeface="Arial"/>
                        </a:rPr>
                        <a:t>Within free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B22"/>
                          </a:solidFill>
                          <a:latin typeface="Arial"/>
                        </a:rPr>
                        <a:t>Per-report (low volume)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B22"/>
                          </a:solidFill>
                          <a:latin typeface="Arial"/>
                        </a:rPr>
                        <a:t>Sum, RC-dominated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71B22"/>
                          </a:solidFill>
                          <a:latin typeface="Arial"/>
                        </a:rPr>
                        <a:t>≈ ₹ 5 – 15 (indicative)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5606E"/>
                </a:solidFill>
                <a:latin typeface="Arial"/>
              </a:rPr>
              <a:t>Figures are indicative estimates for a prototype, not a quoted price.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Snapshots of the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3566160" cy="31089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55606E"/>
                </a:solidFill>
                <a:latin typeface="Arial"/>
              </a:rPr>
              <a:t>[ Insert screenshot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120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71B22"/>
                </a:solidFill>
                <a:latin typeface="Arial"/>
              </a:rPr>
              <a:t>Upload screen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920240"/>
            <a:ext cx="3566160" cy="31089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31089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55606E"/>
                </a:solidFill>
                <a:latin typeface="Arial"/>
              </a:rPr>
              <a:t>[ Insert screenshot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5120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71B22"/>
                </a:solidFill>
                <a:latin typeface="Arial"/>
              </a:rPr>
              <a:t>Report with evidence tags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920240"/>
            <a:ext cx="3566160" cy="31089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31089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55606E"/>
                </a:solidFill>
                <a:latin typeface="Arial"/>
              </a:rPr>
              <a:t>[ Insert screenshot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120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71B22"/>
                </a:solidFill>
                <a:latin typeface="Arial"/>
              </a:rPr>
              <a:t>RC record +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B42318"/>
                </a:solidFill>
                <a:latin typeface="Arial"/>
              </a:rPr>
              <a:t>ACTION: replace the three placeholders with real screenshots from the live deployed app.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71B22"/>
                </a:solidFill>
                <a:latin typeface="Arial"/>
              </a:rPr>
              <a:t>How we measure Veriqo (honest method, no invented numbers):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11155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Visible-issue recall. </a:t>
            </a:r>
            <a:r>
              <a:rPr sz="1400">
                <a:solidFill>
                  <a:srgbClr val="171B22"/>
                </a:solidFill>
                <a:latin typeface="Arial"/>
              </a:rPr>
              <a:t>On a labelled set of photo-sets with known visible issues, what fraction does Gemini flag?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False “all-clear” rate. </a:t>
            </a:r>
            <a:r>
              <a:rPr sz="1400">
                <a:solidFill>
                  <a:srgbClr val="171B22"/>
                </a:solidFill>
                <a:latin typeface="Arial"/>
              </a:rPr>
              <a:t>How often is a car with known visible issues reported with no flags? (Target: 0.)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End-to-end latency. </a:t>
            </a:r>
            <a:r>
              <a:rPr sz="1400">
                <a:solidFill>
                  <a:srgbClr val="171B22"/>
                </a:solidFill>
                <a:latin typeface="Arial"/>
              </a:rPr>
              <a:t>Time from submit to report — currently a few seconds per verification.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b="1" sz="1400">
                <a:solidFill>
                  <a:srgbClr val="171B22"/>
                </a:solidFill>
                <a:latin typeface="Arial"/>
              </a:rPr>
              <a:t>•  Transparency check. </a:t>
            </a:r>
            <a:r>
              <a:rPr sz="1400">
                <a:solidFill>
                  <a:srgbClr val="171B22"/>
                </a:solidFill>
                <a:latin typeface="Arial"/>
              </a:rPr>
              <a:t>Every finding carries a source tag and evidence; the score equals the sum of its rules (unit-tested).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00584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300">
                <a:solidFill>
                  <a:srgbClr val="171B22"/>
                </a:solidFill>
                <a:latin typeface="Arial"/>
              </a:rPr>
              <a:t>[ Insert your measured results here, e.g. “caught 9/10 known visible issues, 0 false all-clears across N cars; median latency ~X s.”  Do not state numbers you have not actually measured.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Live RC integration. </a:t>
            </a:r>
            <a:r>
              <a:rPr sz="1500">
                <a:solidFill>
                  <a:srgbClr val="171B22"/>
                </a:solidFill>
                <a:latin typeface="Arial"/>
              </a:rPr>
              <a:t>Connect an authorized VAHAN provider to replace simulated registration data.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History signals. </a:t>
            </a:r>
            <a:r>
              <a:rPr sz="1500">
                <a:solidFill>
                  <a:srgbClr val="171B22"/>
                </a:solidFill>
                <a:latin typeface="Arial"/>
              </a:rPr>
              <a:t>Partner data for accident / service history and odometer-tampering checks (not available via API today).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Multilingual + voice. </a:t>
            </a:r>
            <a:r>
              <a:rPr sz="1500">
                <a:solidFill>
                  <a:srgbClr val="171B22"/>
                </a:solidFill>
                <a:latin typeface="Arial"/>
              </a:rPr>
              <a:t>Gemini-native local-language and spoken reports for wider reach.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Seller &amp; dealer mode. </a:t>
            </a:r>
            <a:r>
              <a:rPr sz="1500">
                <a:solidFill>
                  <a:srgbClr val="171B22"/>
                </a:solidFill>
                <a:latin typeface="Arial"/>
              </a:rPr>
              <a:t>Shareable trust reports; an API for marketplaces and inspectors.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b="1" sz="1500">
                <a:solidFill>
                  <a:srgbClr val="171B22"/>
                </a:solidFill>
                <a:latin typeface="Arial"/>
              </a:rPr>
              <a:t>•  Adjacent products. </a:t>
            </a:r>
            <a:r>
              <a:rPr sz="1500">
                <a:solidFill>
                  <a:srgbClr val="171B22"/>
                </a:solidFill>
                <a:latin typeface="Arial"/>
              </a:rPr>
              <a:t>Same evidence-tagged engine applied to rental-listing verification (DwellCheck).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171B22"/>
                </a:solidFill>
                <a:latin typeface="Arial"/>
              </a:rPr>
              <a:t>Provide links to your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71B22"/>
                </a:solidFill>
                <a:latin typeface="Arial"/>
              </a:rPr>
              <a:t>●  GitHub Public 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920240"/>
            <a:ext cx="585216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20299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5606E"/>
                </a:solidFill>
                <a:latin typeface="Arial"/>
              </a:rPr>
              <a:t>[ add public GitHub URL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71B22"/>
                </a:solidFill>
                <a:latin typeface="Arial"/>
              </a:rPr>
              <a:t>●  Demo Video Link (3 minutes)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834640"/>
            <a:ext cx="585216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2944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5606E"/>
                </a:solidFill>
                <a:latin typeface="Arial"/>
              </a:rPr>
              <a:t>[ add video URL — must show the working flow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71B22"/>
                </a:solidFill>
                <a:latin typeface="Arial"/>
              </a:rPr>
              <a:t>●  Final Product Link (deployed)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749040"/>
            <a:ext cx="585216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4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38587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5606E"/>
                </a:solidFill>
                <a:latin typeface="Arial"/>
              </a:rPr>
              <a:t>[ add live Firebase Hosting URL — must stay up during evaluation 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881360" cy="914400"/>
          </a:xfrm>
          <a:prstGeom prst="roundRect">
            <a:avLst/>
          </a:prstGeom>
          <a:solidFill>
            <a:srgbClr val="FDECEA"/>
          </a:solidFill>
          <a:ln w="127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b="1" sz="1300">
                <a:solidFill>
                  <a:srgbClr val="171B22"/>
                </a:solidFill>
                <a:latin typeface="Arial"/>
              </a:rPr>
              <a:t>These three links are the evaluation gates. The deployed app must remain live and the video must clearly show the working flow — a broken link or a non-demonstrative video stops evaluation.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